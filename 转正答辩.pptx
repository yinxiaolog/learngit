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16"/>
  </p:notesMasterIdLst>
  <p:sldIdLst>
    <p:sldId id="258" r:id="rId2"/>
    <p:sldId id="262" r:id="rId3"/>
    <p:sldId id="263" r:id="rId4"/>
    <p:sldId id="268" r:id="rId5"/>
    <p:sldId id="272" r:id="rId6"/>
    <p:sldId id="270" r:id="rId7"/>
    <p:sldId id="264" r:id="rId8"/>
    <p:sldId id="275" r:id="rId9"/>
    <p:sldId id="265" r:id="rId10"/>
    <p:sldId id="277" r:id="rId11"/>
    <p:sldId id="266" r:id="rId12"/>
    <p:sldId id="281" r:id="rId13"/>
    <p:sldId id="280" r:id="rId14"/>
    <p:sldId id="286" r:id="rId15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2"/>
    <p:restoredTop sz="94740"/>
  </p:normalViewPr>
  <p:slideViewPr>
    <p:cSldViewPr snapToGrid="0" snapToObjects="1">
      <p:cViewPr varScale="1">
        <p:scale>
          <a:sx n="124" d="100"/>
          <a:sy n="124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68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F4961-F671-D840-803D-4B02C199AB47}" type="datetimeFigureOut">
              <a:rPr kumimoji="1" lang="zh-CN" altLang="en-US" smtClean="0"/>
              <a:t>2018/11/4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B78546-C430-4549-B45A-EA3B29F81B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189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78546-C430-4549-B45A-EA3B29F81B3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6153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78546-C430-4549-B45A-EA3B29F81B38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826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17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 rot="9822520">
            <a:off x="3099071" y="4109867"/>
            <a:ext cx="716990" cy="71699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 rot="18585722">
            <a:off x="2900872" y="1691059"/>
            <a:ext cx="1958891" cy="195889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 userDrawn="1"/>
        </p:nvSpPr>
        <p:spPr>
          <a:xfrm rot="4450317">
            <a:off x="2505540" y="3164955"/>
            <a:ext cx="139775" cy="13977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 userDrawn="1"/>
        </p:nvSpPr>
        <p:spPr>
          <a:xfrm rot="892948">
            <a:off x="1669486" y="2837932"/>
            <a:ext cx="381184" cy="38118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 userDrawn="1"/>
        </p:nvSpPr>
        <p:spPr>
          <a:xfrm rot="4240722">
            <a:off x="2955271" y="3408914"/>
            <a:ext cx="211665" cy="21166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 userDrawn="1"/>
        </p:nvSpPr>
        <p:spPr>
          <a:xfrm rot="3863176">
            <a:off x="2173226" y="2423623"/>
            <a:ext cx="478989" cy="47898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 rot="187853">
            <a:off x="1161290" y="1759072"/>
            <a:ext cx="669411" cy="66941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 userDrawn="1"/>
        </p:nvSpPr>
        <p:spPr>
          <a:xfrm rot="905749">
            <a:off x="2244535" y="1321826"/>
            <a:ext cx="962806" cy="96280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 userDrawn="1"/>
        </p:nvSpPr>
        <p:spPr>
          <a:xfrm rot="19322284">
            <a:off x="2044076" y="1701161"/>
            <a:ext cx="204135" cy="20413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 rot="42066">
            <a:off x="1017200" y="3789355"/>
            <a:ext cx="252619" cy="25261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 userDrawn="1"/>
        </p:nvSpPr>
        <p:spPr>
          <a:xfrm rot="20117985">
            <a:off x="3894745" y="1815825"/>
            <a:ext cx="2847505" cy="284750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 userDrawn="1"/>
        </p:nvSpPr>
        <p:spPr>
          <a:xfrm rot="905749">
            <a:off x="2447007" y="4636477"/>
            <a:ext cx="958417" cy="958417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 userDrawn="1"/>
        </p:nvSpPr>
        <p:spPr>
          <a:xfrm rot="19322284">
            <a:off x="4995333" y="5259205"/>
            <a:ext cx="204135" cy="20413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 userDrawn="1"/>
        </p:nvSpPr>
        <p:spPr>
          <a:xfrm rot="19736611">
            <a:off x="3735113" y="4395457"/>
            <a:ext cx="997607" cy="99760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117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标题幻灯片">
    <p:bg>
      <p:bgPr>
        <a:pattFill prst="pct5">
          <a:fgClr>
            <a:schemeClr val="accent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 rot="19896190">
            <a:off x="-846980" y="4391937"/>
            <a:ext cx="3716222" cy="371622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 userDrawn="1"/>
        </p:nvSpPr>
        <p:spPr>
          <a:xfrm rot="21433404">
            <a:off x="1038840" y="3145644"/>
            <a:ext cx="1172399" cy="117239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 userDrawn="1"/>
        </p:nvSpPr>
        <p:spPr>
          <a:xfrm rot="18900000">
            <a:off x="2964992" y="4498454"/>
            <a:ext cx="562742" cy="56274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 userDrawn="1"/>
        </p:nvSpPr>
        <p:spPr>
          <a:xfrm rot="19462407">
            <a:off x="858415" y="3412397"/>
            <a:ext cx="305434" cy="30543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 userDrawn="1"/>
        </p:nvSpPr>
        <p:spPr>
          <a:xfrm rot="2220555">
            <a:off x="9068972" y="-665078"/>
            <a:ext cx="2602001" cy="260200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 rot="20263186">
            <a:off x="10805818" y="58017"/>
            <a:ext cx="2082844" cy="20828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 userDrawn="1"/>
        </p:nvSpPr>
        <p:spPr>
          <a:xfrm rot="20229117">
            <a:off x="7312023" y="556810"/>
            <a:ext cx="562742" cy="56274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 rot="20229117">
            <a:off x="10862351" y="2812891"/>
            <a:ext cx="472953" cy="47295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 userDrawn="1"/>
        </p:nvSpPr>
        <p:spPr>
          <a:xfrm rot="17430621">
            <a:off x="3026992" y="5398176"/>
            <a:ext cx="219002" cy="21900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35810" y="236936"/>
            <a:ext cx="5601366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806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标题幻灯片">
    <p:bg>
      <p:bgPr>
        <a:pattFill prst="pct5">
          <a:fgClr>
            <a:schemeClr val="accent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 rot="19238099">
            <a:off x="11440980" y="5083135"/>
            <a:ext cx="442243" cy="442243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 userDrawn="1"/>
        </p:nvSpPr>
        <p:spPr>
          <a:xfrm rot="2558654">
            <a:off x="10718032" y="5587230"/>
            <a:ext cx="1790831" cy="179083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 rot="20601285">
            <a:off x="9831264" y="6039855"/>
            <a:ext cx="1029918" cy="102991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 userDrawn="1"/>
        </p:nvSpPr>
        <p:spPr>
          <a:xfrm rot="20567216">
            <a:off x="9227888" y="6150357"/>
            <a:ext cx="265265" cy="26526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 rot="20567216">
            <a:off x="11022574" y="4821816"/>
            <a:ext cx="308836" cy="308836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 userDrawn="1"/>
        </p:nvSpPr>
        <p:spPr>
          <a:xfrm rot="19896190">
            <a:off x="696210" y="33589"/>
            <a:ext cx="669411" cy="66941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 userDrawn="1"/>
        </p:nvSpPr>
        <p:spPr>
          <a:xfrm rot="21433404">
            <a:off x="-424797" y="-289495"/>
            <a:ext cx="1261894" cy="126189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 userDrawn="1"/>
        </p:nvSpPr>
        <p:spPr>
          <a:xfrm rot="18585722">
            <a:off x="1181569" y="925974"/>
            <a:ext cx="284699" cy="2846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 userDrawn="1"/>
        </p:nvSpPr>
        <p:spPr>
          <a:xfrm rot="17430621">
            <a:off x="1311074" y="134869"/>
            <a:ext cx="204135" cy="20413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1713834" y="236936"/>
            <a:ext cx="5601366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3455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标题幻灯片">
    <p:bg>
      <p:bgPr>
        <a:pattFill prst="pct5">
          <a:fgClr>
            <a:schemeClr val="accent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 rot="15361769">
            <a:off x="6558089" y="-388007"/>
            <a:ext cx="1171437" cy="1171437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 userDrawn="1"/>
        </p:nvSpPr>
        <p:spPr>
          <a:xfrm rot="2558654">
            <a:off x="6112257" y="3254276"/>
            <a:ext cx="331525" cy="33152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 rot="20601285">
            <a:off x="5807448" y="2602019"/>
            <a:ext cx="472692" cy="47269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 userDrawn="1"/>
        </p:nvSpPr>
        <p:spPr>
          <a:xfrm rot="2349059">
            <a:off x="6265431" y="2733673"/>
            <a:ext cx="223715" cy="22371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 rot="1971513">
            <a:off x="5492430" y="1969500"/>
            <a:ext cx="478989" cy="47898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 userDrawn="1"/>
        </p:nvSpPr>
        <p:spPr>
          <a:xfrm rot="19896190">
            <a:off x="6547995" y="1195050"/>
            <a:ext cx="669411" cy="66941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 userDrawn="1"/>
        </p:nvSpPr>
        <p:spPr>
          <a:xfrm rot="20614086">
            <a:off x="4738005" y="792153"/>
            <a:ext cx="1325599" cy="132559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 userDrawn="1"/>
        </p:nvSpPr>
        <p:spPr>
          <a:xfrm rot="18585722">
            <a:off x="4977502" y="-1036467"/>
            <a:ext cx="1958891" cy="195889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 userDrawn="1"/>
        </p:nvSpPr>
        <p:spPr>
          <a:xfrm rot="17430621">
            <a:off x="4648690" y="376003"/>
            <a:ext cx="204135" cy="20413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 rot="19750403">
            <a:off x="6270904" y="2051889"/>
            <a:ext cx="252619" cy="25261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 userDrawn="1"/>
        </p:nvSpPr>
        <p:spPr>
          <a:xfrm rot="19896190">
            <a:off x="4118801" y="1264919"/>
            <a:ext cx="329419" cy="3294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35810" y="236936"/>
            <a:ext cx="5601366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702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标题幻灯片">
    <p:bg>
      <p:bgPr>
        <a:pattFill prst="pct5">
          <a:fgClr>
            <a:schemeClr val="accent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 rot="15361769">
            <a:off x="6558089" y="-388007"/>
            <a:ext cx="1171437" cy="1171437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 userDrawn="1"/>
        </p:nvSpPr>
        <p:spPr>
          <a:xfrm rot="2558654">
            <a:off x="6112257" y="3254276"/>
            <a:ext cx="331525" cy="33152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 rot="20601285">
            <a:off x="5807448" y="2602019"/>
            <a:ext cx="472692" cy="47269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 userDrawn="1"/>
        </p:nvSpPr>
        <p:spPr>
          <a:xfrm rot="2349059">
            <a:off x="6265431" y="2733673"/>
            <a:ext cx="223715" cy="22371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 rot="1971513">
            <a:off x="5492430" y="1969500"/>
            <a:ext cx="478989" cy="47898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 userDrawn="1"/>
        </p:nvSpPr>
        <p:spPr>
          <a:xfrm rot="19896190">
            <a:off x="6547995" y="1195050"/>
            <a:ext cx="669411" cy="66941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 userDrawn="1"/>
        </p:nvSpPr>
        <p:spPr>
          <a:xfrm rot="20614086">
            <a:off x="4738005" y="792153"/>
            <a:ext cx="1325599" cy="132559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 userDrawn="1"/>
        </p:nvSpPr>
        <p:spPr>
          <a:xfrm rot="18585722">
            <a:off x="4977502" y="-1036467"/>
            <a:ext cx="1958891" cy="195889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 userDrawn="1"/>
        </p:nvSpPr>
        <p:spPr>
          <a:xfrm rot="17430621">
            <a:off x="4648690" y="376003"/>
            <a:ext cx="204135" cy="20413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 rot="19750403">
            <a:off x="6270904" y="2051889"/>
            <a:ext cx="252619" cy="25261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 userDrawn="1"/>
        </p:nvSpPr>
        <p:spPr>
          <a:xfrm rot="19896190">
            <a:off x="4118801" y="1264919"/>
            <a:ext cx="329419" cy="3294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35810" y="236936"/>
            <a:ext cx="5601366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15" name="矩形 14"/>
          <p:cNvSpPr/>
          <p:nvPr userDrawn="1"/>
        </p:nvSpPr>
        <p:spPr>
          <a:xfrm rot="9822520">
            <a:off x="8665853" y="4696597"/>
            <a:ext cx="716990" cy="71699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 userDrawn="1"/>
        </p:nvSpPr>
        <p:spPr>
          <a:xfrm rot="18585722">
            <a:off x="8467654" y="2277789"/>
            <a:ext cx="1958891" cy="195889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 rot="4450317">
            <a:off x="8072322" y="3751685"/>
            <a:ext cx="139775" cy="13977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/>
          <p:cNvSpPr/>
          <p:nvPr userDrawn="1"/>
        </p:nvSpPr>
        <p:spPr>
          <a:xfrm rot="892948">
            <a:off x="7236268" y="3424662"/>
            <a:ext cx="381184" cy="38118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 rot="4240722">
            <a:off x="8522053" y="3995644"/>
            <a:ext cx="211665" cy="21166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 userDrawn="1"/>
        </p:nvSpPr>
        <p:spPr>
          <a:xfrm rot="3863176">
            <a:off x="7740008" y="3010353"/>
            <a:ext cx="478989" cy="47898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 rot="187853">
            <a:off x="6728072" y="2345802"/>
            <a:ext cx="669411" cy="66941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 rot="905749">
            <a:off x="7811317" y="1908556"/>
            <a:ext cx="962806" cy="96280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 rot="19322284">
            <a:off x="7610858" y="2287891"/>
            <a:ext cx="204135" cy="20413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 rot="42066">
            <a:off x="6583982" y="4376085"/>
            <a:ext cx="252619" cy="25261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 userDrawn="1"/>
        </p:nvSpPr>
        <p:spPr>
          <a:xfrm rot="20117985">
            <a:off x="9461527" y="2402555"/>
            <a:ext cx="2847505" cy="284750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/>
          <p:cNvSpPr/>
          <p:nvPr userDrawn="1"/>
        </p:nvSpPr>
        <p:spPr>
          <a:xfrm rot="905749">
            <a:off x="8013789" y="5223207"/>
            <a:ext cx="958417" cy="958417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 userDrawn="1"/>
        </p:nvSpPr>
        <p:spPr>
          <a:xfrm rot="19322284">
            <a:off x="10562115" y="5845935"/>
            <a:ext cx="204135" cy="20413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/>
          <p:cNvSpPr/>
          <p:nvPr userDrawn="1"/>
        </p:nvSpPr>
        <p:spPr>
          <a:xfrm rot="19736611">
            <a:off x="9301895" y="4982187"/>
            <a:ext cx="997607" cy="99760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5799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标题幻灯片">
    <p:bg>
      <p:bgPr>
        <a:pattFill prst="pct5">
          <a:fgClr>
            <a:schemeClr val="accent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 rot="6238231" flipH="1">
            <a:off x="9407392" y="4234793"/>
            <a:ext cx="1171437" cy="1171437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 userDrawn="1"/>
        </p:nvSpPr>
        <p:spPr>
          <a:xfrm rot="19041346" flipH="1">
            <a:off x="10088253" y="6106343"/>
            <a:ext cx="188104" cy="18810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 rot="998715" flipH="1">
            <a:off x="10506343" y="5622066"/>
            <a:ext cx="472692" cy="47269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 userDrawn="1"/>
        </p:nvSpPr>
        <p:spPr>
          <a:xfrm rot="19250941" flipH="1">
            <a:off x="10179321" y="5688691"/>
            <a:ext cx="223715" cy="22371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 rot="19628487" flipH="1">
            <a:off x="11165499" y="6592300"/>
            <a:ext cx="478989" cy="47898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 userDrawn="1"/>
        </p:nvSpPr>
        <p:spPr>
          <a:xfrm rot="1703810" flipH="1">
            <a:off x="11537857" y="2659624"/>
            <a:ext cx="669411" cy="66941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 userDrawn="1"/>
        </p:nvSpPr>
        <p:spPr>
          <a:xfrm rot="985914" flipH="1">
            <a:off x="11073314" y="5414953"/>
            <a:ext cx="1325599" cy="132559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 userDrawn="1"/>
        </p:nvSpPr>
        <p:spPr>
          <a:xfrm rot="3014278" flipH="1">
            <a:off x="10200525" y="3586333"/>
            <a:ext cx="1958891" cy="195889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 userDrawn="1"/>
        </p:nvSpPr>
        <p:spPr>
          <a:xfrm rot="4169379" flipH="1">
            <a:off x="8954405" y="5462201"/>
            <a:ext cx="204135" cy="20413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 rot="1849597" flipH="1">
            <a:off x="10415339" y="6386801"/>
            <a:ext cx="669019" cy="66901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 userDrawn="1"/>
        </p:nvSpPr>
        <p:spPr>
          <a:xfrm rot="1703810" flipH="1">
            <a:off x="10051625" y="3232154"/>
            <a:ext cx="329419" cy="3294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35810" y="236936"/>
            <a:ext cx="5601366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870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7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176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9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566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759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004" y="258233"/>
            <a:ext cx="4868117" cy="529569"/>
          </a:xfrm>
          <a:prstGeom prst="rect">
            <a:avLst/>
          </a:prstGeom>
          <a:ln w="12700" cmpd="sng">
            <a:solidFill>
              <a:schemeClr val="tx1"/>
            </a:solidFill>
          </a:ln>
        </p:spPr>
        <p:txBody>
          <a:bodyPr vert="horz" anchor="ctr"/>
          <a:lstStyle>
            <a:lvl1pPr marL="0" indent="0" algn="l">
              <a:buNone/>
              <a:defRPr sz="2400" b="1"/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1386592" y="171547"/>
            <a:ext cx="805408" cy="616255"/>
          </a:xfrm>
          <a:prstGeom prst="rect">
            <a:avLst/>
          </a:prstGeom>
          <a:solidFill>
            <a:schemeClr val="tx1"/>
          </a:solidFill>
        </p:spPr>
        <p:txBody>
          <a:bodyPr vert="horz" anchor="ctr"/>
          <a:lstStyle>
            <a:lvl1pPr marL="0" indent="0" algn="ctr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4" hasCustomPrompt="1"/>
          </p:nvPr>
        </p:nvSpPr>
        <p:spPr>
          <a:xfrm>
            <a:off x="376768" y="5989475"/>
            <a:ext cx="1960033" cy="533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600" b="1"/>
            </a:lvl1pPr>
          </a:lstStyle>
          <a:p>
            <a:r>
              <a:rPr kumimoji="1" lang="en-US" altLang="zh-CN" sz="1600" b="1" dirty="0"/>
              <a:t>LOGO&amp;PIC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91705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字体使用 </a:t>
            </a: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行距</a:t>
            </a: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defTabSz="609585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声明</a:t>
            </a: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英文 </a:t>
            </a:r>
            <a:r>
              <a:rPr lang="en-US" altLang="zh-CN" sz="1400" dirty="0">
                <a:solidFill>
                  <a:srgbClr val="FFFFFF"/>
                </a:solidFill>
                <a:latin typeface="Segoe UI Light"/>
                <a:cs typeface="Segoe UI Light"/>
              </a:rPr>
              <a:t>Century Gothic</a:t>
            </a: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中文 微软雅黑</a:t>
            </a: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正文 </a:t>
            </a:r>
            <a:r>
              <a:rPr lang="en-US" altLang="zh-CN" sz="1400" dirty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1.3</a:t>
            </a: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en-US" altLang="zh-CN" sz="1400" dirty="0" err="1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cn.bing.com</a:t>
            </a:r>
            <a:endParaRPr lang="zh-CN" altLang="en-US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prstClr val="white"/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prstClr val="white"/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33925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9585"/>
            <a:r>
              <a:rPr kumimoji="1" lang="zh-CN" altLang="en-US" sz="1333" dirty="0">
                <a:solidFill>
                  <a:srgbClr val="000000"/>
                </a:solidFill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dirty="0">
                <a:solidFill>
                  <a:srgbClr val="000000"/>
                </a:solidFill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dirty="0">
                <a:solidFill>
                  <a:srgbClr val="000000"/>
                </a:solidFill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9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441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9" r:id="rId2"/>
    <p:sldLayoutId id="2147483685" r:id="rId3"/>
    <p:sldLayoutId id="2147483686" r:id="rId4"/>
    <p:sldLayoutId id="2147483687" r:id="rId5"/>
    <p:sldLayoutId id="2147483690" r:id="rId6"/>
    <p:sldLayoutId id="2147483688" r:id="rId7"/>
    <p:sldLayoutId id="2147483683" r:id="rId8"/>
    <p:sldLayoutId id="2147483680" r:id="rId9"/>
    <p:sldLayoutId id="2147483681" r:id="rId10"/>
    <p:sldLayoutId id="2147483682" r:id="rId11"/>
    <p:sldLayoutId id="2147483684" r:id="rId12"/>
    <p:sldLayoutId id="2147483662" r:id="rId13"/>
    <p:sldLayoutId id="2147483664" r:id="rId14"/>
    <p:sldLayoutId id="2147483663" r:id="rId15"/>
    <p:sldLayoutId id="214748366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130016" y="1294892"/>
            <a:ext cx="79319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800" b="1" dirty="0" err="1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CloudBU</a:t>
            </a:r>
            <a:r>
              <a:rPr kumimoji="1" lang="en-US" altLang="zh-CN" sz="4800" b="1" dirty="0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-SRE-</a:t>
            </a:r>
            <a:r>
              <a:rPr kumimoji="1" lang="zh-CN" altLang="en-US" sz="4800" b="1" dirty="0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基础</a:t>
            </a:r>
            <a:r>
              <a:rPr kumimoji="1" lang="zh-CN" altLang="en-US" sz="4800" b="1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平台域</a:t>
            </a:r>
            <a:endParaRPr kumimoji="1" lang="zh-CN" altLang="en-US" sz="4800" b="1" dirty="0">
              <a:solidFill>
                <a:schemeClr val="accent1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64514" y="2227489"/>
            <a:ext cx="5262979" cy="1107996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6600" b="1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转正述职答辩</a:t>
            </a:r>
            <a:endParaRPr kumimoji="1" lang="zh-CN" altLang="en-US" sz="6600" b="1" dirty="0">
              <a:solidFill>
                <a:schemeClr val="bg1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3203" y="3437085"/>
            <a:ext cx="40455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800" b="1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CloudOSborn</a:t>
            </a:r>
            <a:r>
              <a:rPr kumimoji="1" lang="zh-CN" altLang="en-US" sz="2800" b="1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软件开发</a:t>
            </a:r>
            <a:endParaRPr kumimoji="1" lang="zh-CN" altLang="en-US" sz="2800" b="1" dirty="0">
              <a:solidFill>
                <a:schemeClr val="accent2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" name="文本框 8"/>
          <p:cNvSpPr txBox="1"/>
          <p:nvPr/>
        </p:nvSpPr>
        <p:spPr>
          <a:xfrm>
            <a:off x="4448899" y="4178020"/>
            <a:ext cx="32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lnSpc>
                <a:spcPct val="150000"/>
              </a:lnSpc>
              <a:buFont typeface="Wingdings" charset="2"/>
              <a:buChar char="n"/>
            </a:pPr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0"/>
              </a:rPr>
              <a:t>部门主管：郭保庆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285750" indent="-285750" algn="ctr">
              <a:lnSpc>
                <a:spcPct val="150000"/>
              </a:lnSpc>
              <a:buFont typeface="Wingdings" charset="2"/>
              <a:buChar char="n"/>
            </a:pPr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0"/>
              </a:rPr>
              <a:t>思想导师：滕声威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285750" indent="-285750" algn="ctr">
              <a:lnSpc>
                <a:spcPct val="150000"/>
              </a:lnSpc>
              <a:buFont typeface="Wingdings" charset="2"/>
              <a:buChar char="n"/>
            </a:pPr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0"/>
              </a:rPr>
              <a:t>转正人员：殷小龙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23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72694" y="3642936"/>
            <a:ext cx="2773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000" dirty="0">
                <a:solidFill>
                  <a:schemeClr val="bg1"/>
                </a:solidFill>
              </a:rPr>
              <a:t>CONTENTS</a:t>
            </a:r>
            <a:endParaRPr kumimoji="1"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5135" y="1809647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kern="0">
                <a:solidFill>
                  <a:srgbClr val="FFFFFF"/>
                </a:solidFill>
                <a:ea typeface="微软雅黑" charset="0"/>
              </a:rPr>
              <a:t>试用期工作总结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532522" y="1631723"/>
            <a:ext cx="794934" cy="794934"/>
          </a:xfrm>
          <a:prstGeom prst="ellipse">
            <a:avLst/>
          </a:prstGeom>
          <a:solidFill>
            <a:schemeClr val="accent4"/>
          </a:solidFill>
          <a:ln w="28575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微软雅黑" charset="0"/>
                <a:cs typeface=""/>
              </a:rPr>
              <a:t>1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微软雅黑" charset="0"/>
              <a:cs typeface="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15134" y="266687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kern="0">
                <a:solidFill>
                  <a:srgbClr val="FFFFFF"/>
                </a:solidFill>
                <a:ea typeface="微软雅黑" charset="0"/>
              </a:rPr>
              <a:t>试用期自我评价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532523" y="2544914"/>
            <a:ext cx="794934" cy="794934"/>
          </a:xfrm>
          <a:prstGeom prst="ellipse">
            <a:avLst/>
          </a:prstGeom>
          <a:solidFill>
            <a:schemeClr val="accent4"/>
          </a:solidFill>
          <a:ln w="28575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微软雅黑" charset="0"/>
                <a:cs typeface=""/>
              </a:rPr>
              <a:t>2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微软雅黑" charset="0"/>
              <a:cs typeface="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5133" y="356290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kern="0">
                <a:solidFill>
                  <a:srgbClr val="FFFFFF"/>
                </a:solidFill>
                <a:ea typeface="微软雅黑" charset="0"/>
              </a:rPr>
              <a:t>试用期工作体会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5532522" y="3458105"/>
            <a:ext cx="794935" cy="794935"/>
          </a:xfrm>
          <a:prstGeom prst="ellipse">
            <a:avLst/>
          </a:prstGeom>
          <a:solidFill>
            <a:schemeClr val="accent4"/>
          </a:solidFill>
          <a:ln w="28575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微软雅黑" charset="0"/>
                <a:cs typeface=""/>
              </a:rPr>
              <a:t>3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微软雅黑" charset="0"/>
              <a:cs typeface="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615133" y="448975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kern="0">
                <a:solidFill>
                  <a:srgbClr val="FFFFFF"/>
                </a:solidFill>
                <a:ea typeface="微软雅黑" charset="0"/>
              </a:rPr>
              <a:t>未来规划与展望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532523" y="4343307"/>
            <a:ext cx="794936" cy="794936"/>
          </a:xfrm>
          <a:prstGeom prst="ellipse">
            <a:avLst/>
          </a:prstGeom>
          <a:solidFill>
            <a:schemeClr val="accent4"/>
          </a:solidFill>
          <a:ln w="28575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微软雅黑" charset="0"/>
                <a:cs typeface=""/>
              </a:rPr>
              <a:t>4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微软雅黑" charset="0"/>
              <a:cs typeface="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90235" y="1973590"/>
            <a:ext cx="313419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500" b="1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484238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22847" y="1729469"/>
            <a:ext cx="1901483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3900" b="1" dirty="0">
                <a:solidFill>
                  <a:schemeClr val="bg1"/>
                </a:solidFill>
              </a:rPr>
              <a:t>1</a:t>
            </a:r>
            <a:endParaRPr kumimoji="1" lang="zh-CN" altLang="en-US" sz="239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56459" y="1864936"/>
            <a:ext cx="1034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800">
                <a:solidFill>
                  <a:schemeClr val="bg1"/>
                </a:solidFill>
              </a:rPr>
              <a:t>PART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42648" y="2922413"/>
            <a:ext cx="357020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600" b="1">
                <a:solidFill>
                  <a:schemeClr val="accent4">
                    <a:alpha val="50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  试用期</a:t>
            </a:r>
            <a:endParaRPr kumimoji="1" lang="en-US" altLang="zh-CN" sz="6600" b="1">
              <a:solidFill>
                <a:schemeClr val="accent4">
                  <a:alpha val="50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kumimoji="1" lang="zh-CN" altLang="en-US" sz="6600" b="1">
                <a:solidFill>
                  <a:schemeClr val="accent4">
                    <a:alpha val="50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工作总结</a:t>
            </a:r>
            <a:endParaRPr kumimoji="1" lang="zh-CN" altLang="en-US" sz="6600" b="1" dirty="0">
              <a:solidFill>
                <a:schemeClr val="accent4">
                  <a:alpha val="50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566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8" b="2918"/>
          <a:stretch/>
        </p:blipFill>
        <p:spPr>
          <a:xfrm>
            <a:off x="825499" y="1154640"/>
            <a:ext cx="5710766" cy="4283075"/>
          </a:xfrm>
          <a:prstGeom prst="roundRect">
            <a:avLst>
              <a:gd name="adj" fmla="val 209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文本框 3"/>
          <p:cNvSpPr txBox="1"/>
          <p:nvPr/>
        </p:nvSpPr>
        <p:spPr>
          <a:xfrm>
            <a:off x="7877222" y="3357205"/>
            <a:ext cx="4145411" cy="1004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en-US" altLang="zh-CN" sz="2400" b="1">
                <a:solidFill>
                  <a:schemeClr val="bg1"/>
                </a:solidFill>
                <a:ea typeface="微软雅黑" charset="0"/>
                <a:cs typeface="Arial" panose="020B0604020202020204" pitchFamily="34" charset="0"/>
              </a:rPr>
              <a:t>CloudOSborn</a:t>
            </a:r>
            <a:r>
              <a:rPr lang="zh-CN" altLang="en-US" sz="2400" b="1">
                <a:solidFill>
                  <a:schemeClr val="bg1"/>
                </a:solidFill>
                <a:ea typeface="微软雅黑" charset="0"/>
                <a:cs typeface="Arial" panose="020B0604020202020204" pitchFamily="34" charset="0"/>
              </a:rPr>
              <a:t>开发</a:t>
            </a:r>
            <a:endParaRPr lang="en-US" altLang="zh-CN" sz="2400" b="1">
              <a:solidFill>
                <a:schemeClr val="bg1"/>
              </a:solidFill>
              <a:ea typeface="微软雅黑" charset="0"/>
              <a:cs typeface="Arial" panose="020B0604020202020204" pitchFamily="34" charset="0"/>
            </a:endParaRPr>
          </a:p>
          <a:p>
            <a:pPr defTabSz="609585">
              <a:lnSpc>
                <a:spcPct val="130000"/>
              </a:lnSpc>
            </a:pPr>
            <a:r>
              <a:rPr lang="en-US" altLang="zh-CN" sz="2400" b="1">
                <a:solidFill>
                  <a:schemeClr val="bg1"/>
                </a:solidFill>
                <a:ea typeface="微软雅黑" charset="0"/>
                <a:cs typeface="Arial" panose="020B0604020202020204" pitchFamily="34" charset="0"/>
              </a:rPr>
              <a:t>CloudOSborn</a:t>
            </a:r>
            <a:r>
              <a:rPr lang="zh-CN" altLang="en-US" sz="2400" b="1">
                <a:solidFill>
                  <a:schemeClr val="bg1"/>
                </a:solidFill>
                <a:ea typeface="微软雅黑" charset="0"/>
                <a:cs typeface="Arial" panose="020B0604020202020204" pitchFamily="34" charset="0"/>
              </a:rPr>
              <a:t>运维。</a:t>
            </a:r>
            <a:endParaRPr lang="zh-CN" altLang="en-US" sz="2400" b="1" dirty="0">
              <a:solidFill>
                <a:schemeClr val="bg1"/>
              </a:solidFill>
              <a:ea typeface="微软雅黑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01757" y="2828835"/>
            <a:ext cx="904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/>
            <a:r>
              <a:rPr lang="zh-CN" altLang="en-US" sz="72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914008" y="4361775"/>
            <a:ext cx="904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/>
            <a:r>
              <a:rPr lang="zh-CN" altLang="en-US" sz="720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”</a:t>
            </a:r>
            <a:endParaRPr lang="zh-CN" altLang="en-US" sz="72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775561" y="1295896"/>
            <a:ext cx="3416320" cy="740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3600" b="1">
                <a:solidFill>
                  <a:schemeClr val="bg1"/>
                </a:solidFill>
                <a:ea typeface="微软雅黑" charset="0"/>
              </a:rPr>
              <a:t>工作岗位及职责</a:t>
            </a:r>
            <a:endParaRPr lang="en-US" altLang="zh-CN" sz="3600" b="1" dirty="0">
              <a:solidFill>
                <a:schemeClr val="bg1"/>
              </a:solidFill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689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sz="2800"/>
              <a:t>内部培训学习</a:t>
            </a:r>
            <a:endParaRPr kumimoji="1" lang="zh-CN" altLang="en-US" sz="2800" dirty="0"/>
          </a:p>
        </p:txBody>
      </p:sp>
      <p:sp>
        <p:nvSpPr>
          <p:cNvPr id="3" name="文本框 8"/>
          <p:cNvSpPr txBox="1"/>
          <p:nvPr/>
        </p:nvSpPr>
        <p:spPr>
          <a:xfrm>
            <a:off x="1791765" y="2650274"/>
            <a:ext cx="4145411" cy="2446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</a:rPr>
              <a:t>NEO</a:t>
            </a: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</a:rPr>
              <a:t>新员工培训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</a:rPr>
              <a:t>三营培训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</a:rPr>
              <a:t>SRE</a:t>
            </a: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</a:rPr>
              <a:t>新员工培训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/>
              <a:t>工作完成情况</a:t>
            </a:r>
            <a:endParaRPr kumimoji="1" lang="zh-CN" altLang="en-US" dirty="0"/>
          </a:p>
        </p:txBody>
      </p:sp>
      <p:sp>
        <p:nvSpPr>
          <p:cNvPr id="3" name="圆角矩形 2"/>
          <p:cNvSpPr/>
          <p:nvPr/>
        </p:nvSpPr>
        <p:spPr>
          <a:xfrm>
            <a:off x="2336797" y="965201"/>
            <a:ext cx="3843869" cy="1913466"/>
          </a:xfrm>
          <a:prstGeom prst="roundRect">
            <a:avLst>
              <a:gd name="adj" fmla="val 457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5615026" y="2413000"/>
            <a:ext cx="931334" cy="931334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b="1"/>
              <a:t>7</a:t>
            </a:r>
            <a:endParaRPr kumimoji="1" lang="zh-CN" altLang="en-US" sz="3600" b="1" dirty="0"/>
          </a:p>
        </p:txBody>
      </p:sp>
      <p:sp>
        <p:nvSpPr>
          <p:cNvPr id="5" name="文本框 8"/>
          <p:cNvSpPr txBox="1"/>
          <p:nvPr/>
        </p:nvSpPr>
        <p:spPr>
          <a:xfrm>
            <a:off x="2702490" y="1621642"/>
            <a:ext cx="3173374" cy="1185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新员工考试</a:t>
            </a:r>
            <a:endParaRPr lang="en-US" altLang="zh-CN" sz="140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项目基础知识学习</a:t>
            </a:r>
            <a:endParaRPr lang="en-US" altLang="zh-CN" sz="140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        </a:t>
            </a:r>
            <a:r>
              <a:rPr lang="en-US" altLang="zh-CN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SSM</a:t>
            </a: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框架、</a:t>
            </a:r>
            <a:r>
              <a:rPr lang="en-US" altLang="zh-CN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Linux</a:t>
            </a:r>
          </a:p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出差杭州</a:t>
            </a:r>
            <a:endParaRPr lang="en-US" altLang="zh-CN" sz="140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02490" y="1168401"/>
            <a:ext cx="522900" cy="448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en-US" altLang="zh-CN" sz="2000" b="1">
                <a:solidFill>
                  <a:schemeClr val="bg1"/>
                </a:solidFill>
                <a:ea typeface="微软雅黑" charset="0"/>
              </a:rPr>
              <a:t>Jul</a:t>
            </a:r>
            <a:endParaRPr lang="en-US" altLang="zh-CN" sz="2000" b="1" dirty="0">
              <a:solidFill>
                <a:schemeClr val="bg1"/>
              </a:solidFill>
              <a:ea typeface="微软雅黑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988419" y="963032"/>
            <a:ext cx="3843869" cy="1913466"/>
          </a:xfrm>
          <a:prstGeom prst="roundRect">
            <a:avLst>
              <a:gd name="adj" fmla="val 4575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266648" y="2410831"/>
            <a:ext cx="931334" cy="93133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b="1" dirty="0"/>
              <a:t>8</a:t>
            </a:r>
            <a:endParaRPr kumimoji="1" lang="zh-CN" altLang="en-US" sz="3600" b="1" dirty="0"/>
          </a:p>
        </p:txBody>
      </p:sp>
      <p:sp>
        <p:nvSpPr>
          <p:cNvPr id="11" name="文本框 8"/>
          <p:cNvSpPr txBox="1"/>
          <p:nvPr/>
        </p:nvSpPr>
        <p:spPr>
          <a:xfrm>
            <a:off x="7354113" y="1684149"/>
            <a:ext cx="3173374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学习项目代码</a:t>
            </a:r>
            <a:endParaRPr lang="en-US" altLang="zh-CN" sz="140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修复问题单</a:t>
            </a:r>
            <a:r>
              <a:rPr lang="en-US" altLang="zh-CN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BUG</a:t>
            </a:r>
            <a:endParaRPr lang="zh-CN" altLang="en-US" sz="140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354112" y="1166232"/>
            <a:ext cx="697627" cy="448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en-US" altLang="zh-CN" sz="2000" b="1">
                <a:solidFill>
                  <a:schemeClr val="bg1"/>
                </a:solidFill>
                <a:ea typeface="微软雅黑" charset="0"/>
              </a:rPr>
              <a:t>Aug</a:t>
            </a:r>
            <a:endParaRPr lang="en-US" altLang="zh-CN" sz="2000" b="1" dirty="0">
              <a:solidFill>
                <a:schemeClr val="bg1"/>
              </a:solidFill>
              <a:ea typeface="微软雅黑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963404" y="3607518"/>
            <a:ext cx="3843869" cy="1913466"/>
          </a:xfrm>
          <a:prstGeom prst="roundRect">
            <a:avLst>
              <a:gd name="adj" fmla="val 457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4241633" y="5055317"/>
            <a:ext cx="931334" cy="93133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b="1" dirty="0"/>
              <a:t>9</a:t>
            </a:r>
            <a:endParaRPr kumimoji="1" lang="zh-CN" altLang="en-US" sz="3600" b="1" dirty="0"/>
          </a:p>
        </p:txBody>
      </p:sp>
      <p:sp>
        <p:nvSpPr>
          <p:cNvPr id="16" name="文本框 8"/>
          <p:cNvSpPr txBox="1"/>
          <p:nvPr/>
        </p:nvSpPr>
        <p:spPr>
          <a:xfrm>
            <a:off x="1329098" y="4328635"/>
            <a:ext cx="3173374" cy="905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学习业务</a:t>
            </a:r>
            <a:endParaRPr lang="en-US" altLang="zh-CN" sz="140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开源认证的工作</a:t>
            </a:r>
            <a:endParaRPr lang="en-US" altLang="zh-CN" sz="140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修复</a:t>
            </a:r>
            <a:r>
              <a:rPr lang="en-US" altLang="zh-CN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DTS</a:t>
            </a: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和</a:t>
            </a:r>
            <a:r>
              <a:rPr lang="en-US" altLang="zh-CN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Version</a:t>
            </a: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问题单</a:t>
            </a:r>
            <a:endParaRPr lang="zh-CN" altLang="en-US" sz="140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29097" y="3810718"/>
            <a:ext cx="651140" cy="448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en-US" altLang="zh-CN" sz="2000" b="1">
                <a:solidFill>
                  <a:schemeClr val="bg1"/>
                </a:solidFill>
                <a:ea typeface="微软雅黑" charset="0"/>
              </a:rPr>
              <a:t>Sep</a:t>
            </a:r>
            <a:endParaRPr lang="en-US" altLang="zh-CN" sz="2000" b="1" dirty="0">
              <a:solidFill>
                <a:schemeClr val="bg1"/>
              </a:solidFill>
              <a:ea typeface="微软雅黑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15026" y="3605349"/>
            <a:ext cx="3843869" cy="1913466"/>
          </a:xfrm>
          <a:prstGeom prst="roundRect">
            <a:avLst>
              <a:gd name="adj" fmla="val 457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8893255" y="5053148"/>
            <a:ext cx="931334" cy="931334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b="1"/>
              <a:t>1</a:t>
            </a:r>
            <a:r>
              <a:rPr kumimoji="1" lang="en-US" altLang="zh-CN" sz="3200" b="1" dirty="0"/>
              <a:t>0</a:t>
            </a:r>
            <a:endParaRPr kumimoji="1" lang="zh-CN" altLang="en-US" sz="3200" b="1" dirty="0"/>
          </a:p>
        </p:txBody>
      </p:sp>
      <p:sp>
        <p:nvSpPr>
          <p:cNvPr id="21" name="文本框 8"/>
          <p:cNvSpPr txBox="1"/>
          <p:nvPr/>
        </p:nvSpPr>
        <p:spPr>
          <a:xfrm>
            <a:off x="5980720" y="4326466"/>
            <a:ext cx="3173374" cy="905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支撑版本上线联调测试</a:t>
            </a:r>
            <a:endParaRPr lang="en-US" altLang="zh-CN" sz="140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支撑上线合营云</a:t>
            </a:r>
            <a:endParaRPr lang="en-US" altLang="zh-CN" sz="140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/>
                </a:solidFill>
                <a:latin typeface="微软雅黑" charset="0"/>
                <a:ea typeface="微软雅黑" charset="0"/>
              </a:rPr>
              <a:t>Oncall</a:t>
            </a:r>
            <a:endParaRPr lang="zh-CN" altLang="en-US" sz="140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980719" y="3808549"/>
            <a:ext cx="639919" cy="448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en-US" altLang="zh-CN" sz="2000" b="1">
                <a:solidFill>
                  <a:schemeClr val="bg1"/>
                </a:solidFill>
                <a:ea typeface="微软雅黑" charset="0"/>
              </a:rPr>
              <a:t>Oct</a:t>
            </a:r>
            <a:endParaRPr lang="en-US" altLang="zh-CN" sz="2000" b="1" dirty="0">
              <a:solidFill>
                <a:schemeClr val="bg1"/>
              </a:solidFill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108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22847" y="1729469"/>
            <a:ext cx="1901483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3900" b="1" dirty="0">
                <a:solidFill>
                  <a:schemeClr val="bg1"/>
                </a:solidFill>
              </a:rPr>
              <a:t>2</a:t>
            </a:r>
            <a:endParaRPr kumimoji="1" lang="zh-CN" altLang="en-US" sz="239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56459" y="1864936"/>
            <a:ext cx="1034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800">
                <a:solidFill>
                  <a:schemeClr val="bg1"/>
                </a:solidFill>
              </a:rPr>
              <a:t>PART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42648" y="2922413"/>
            <a:ext cx="357020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600" b="1">
                <a:solidFill>
                  <a:schemeClr val="accent4">
                    <a:alpha val="50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  试用期</a:t>
            </a:r>
            <a:endParaRPr kumimoji="1" lang="en-US" altLang="zh-CN" sz="6600" b="1">
              <a:solidFill>
                <a:schemeClr val="accent4">
                  <a:alpha val="50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kumimoji="1" lang="zh-CN" altLang="en-US" sz="6600" b="1">
                <a:solidFill>
                  <a:schemeClr val="accent4">
                    <a:alpha val="50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自我评价</a:t>
            </a:r>
            <a:endParaRPr kumimoji="1" lang="zh-CN" altLang="en-US" sz="6600" b="1" dirty="0">
              <a:solidFill>
                <a:schemeClr val="accent4">
                  <a:alpha val="50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3328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42612" y="3656113"/>
            <a:ext cx="3932481" cy="25153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8"/>
          <p:cNvSpPr txBox="1"/>
          <p:nvPr/>
        </p:nvSpPr>
        <p:spPr>
          <a:xfrm>
            <a:off x="2470268" y="4926185"/>
            <a:ext cx="3565339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charset="0"/>
                <a:ea typeface="微软雅黑" charset="0"/>
              </a:rPr>
              <a:t>年轻</a:t>
            </a:r>
            <a:endParaRPr lang="en-US" altLang="zh-CN" sz="120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charset="0"/>
                <a:ea typeface="微软雅黑" charset="0"/>
              </a:rPr>
              <a:t>有活力</a:t>
            </a:r>
            <a:endParaRPr lang="en-US" altLang="zh-CN" sz="120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charset="0"/>
                <a:ea typeface="微软雅黑" charset="0"/>
              </a:rPr>
              <a:t>有想法</a:t>
            </a:r>
            <a:endParaRPr lang="zh-CN" altLang="en-US" sz="120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08018" y="4473753"/>
            <a:ext cx="1107996" cy="4164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ea typeface="微软雅黑" charset="0"/>
              </a:rPr>
              <a:t>我的优势</a:t>
            </a:r>
            <a:endParaRPr lang="en-US" altLang="zh-CN" b="1" dirty="0">
              <a:solidFill>
                <a:schemeClr val="bg1"/>
              </a:solidFill>
              <a:ea typeface="微软雅黑" charset="0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/>
              <a:t>我的优势与不足</a:t>
            </a:r>
            <a:endParaRPr kumimoji="1"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7" t="10133" r="26303" b="30959"/>
          <a:stretch/>
        </p:blipFill>
        <p:spPr>
          <a:xfrm>
            <a:off x="0" y="917875"/>
            <a:ext cx="4539343" cy="34045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矩形 6"/>
          <p:cNvSpPr/>
          <p:nvPr/>
        </p:nvSpPr>
        <p:spPr>
          <a:xfrm>
            <a:off x="8259519" y="236936"/>
            <a:ext cx="3932481" cy="2515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8"/>
          <p:cNvSpPr txBox="1"/>
          <p:nvPr/>
        </p:nvSpPr>
        <p:spPr>
          <a:xfrm>
            <a:off x="8387175" y="917875"/>
            <a:ext cx="3565339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charset="0"/>
                <a:ea typeface="微软雅黑" charset="0"/>
              </a:rPr>
              <a:t>编码经验不足</a:t>
            </a:r>
            <a:endParaRPr lang="en-US" altLang="zh-CN" sz="120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charset="0"/>
                <a:ea typeface="微软雅黑" charset="0"/>
              </a:rPr>
              <a:t>运维经验不足</a:t>
            </a:r>
            <a:endParaRPr lang="en-US" altLang="zh-CN" sz="120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charset="0"/>
                <a:ea typeface="微软雅黑" charset="0"/>
              </a:rPr>
              <a:t>沟通技巧不足</a:t>
            </a:r>
            <a:endParaRPr lang="en-US" altLang="zh-CN" sz="120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424925" y="465443"/>
            <a:ext cx="1107996" cy="4164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ea typeface="微软雅黑" charset="0"/>
              </a:rPr>
              <a:t>我的不足</a:t>
            </a:r>
            <a:endParaRPr lang="en-US" altLang="zh-CN" b="1" dirty="0">
              <a:solidFill>
                <a:schemeClr val="bg1"/>
              </a:solidFill>
              <a:ea typeface="微软雅黑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7" t="10133" r="26303" b="30959"/>
          <a:stretch/>
        </p:blipFill>
        <p:spPr>
          <a:xfrm>
            <a:off x="6861686" y="2422903"/>
            <a:ext cx="4539343" cy="34045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图片 10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4205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5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22847" y="1729469"/>
            <a:ext cx="1901483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3900" b="1" dirty="0">
                <a:solidFill>
                  <a:schemeClr val="bg1"/>
                </a:solidFill>
              </a:rPr>
              <a:t>3</a:t>
            </a:r>
            <a:endParaRPr kumimoji="1" lang="zh-CN" altLang="en-US" sz="239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56459" y="1864936"/>
            <a:ext cx="1034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800">
                <a:solidFill>
                  <a:schemeClr val="bg1"/>
                </a:solidFill>
              </a:rPr>
              <a:t>PART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42648" y="2922413"/>
            <a:ext cx="357020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6600" b="1">
                <a:solidFill>
                  <a:schemeClr val="accent4">
                    <a:alpha val="50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 试用期</a:t>
            </a:r>
            <a:endParaRPr kumimoji="1" lang="en-US" altLang="zh-CN" sz="6600" b="1">
              <a:solidFill>
                <a:schemeClr val="accent4">
                  <a:alpha val="50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algn="ctr"/>
            <a:r>
              <a:rPr kumimoji="1" lang="zh-CN" altLang="en-US" sz="6600" b="1">
                <a:solidFill>
                  <a:schemeClr val="accent4">
                    <a:alpha val="50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工作体会</a:t>
            </a:r>
            <a:endParaRPr kumimoji="1" lang="zh-CN" altLang="en-US" sz="6600" b="1" dirty="0">
              <a:solidFill>
                <a:schemeClr val="accent4">
                  <a:alpha val="50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77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/>
              <a:t>工作心得</a:t>
            </a:r>
            <a:endParaRPr kumimoji="1" lang="zh-CN" altLang="en-US" dirty="0"/>
          </a:p>
        </p:txBody>
      </p:sp>
      <p:grpSp>
        <p:nvGrpSpPr>
          <p:cNvPr id="59" name="组 58"/>
          <p:cNvGrpSpPr/>
          <p:nvPr/>
        </p:nvGrpSpPr>
        <p:grpSpPr>
          <a:xfrm>
            <a:off x="1713834" y="1499661"/>
            <a:ext cx="3898111" cy="1704425"/>
            <a:chOff x="1713834" y="1499661"/>
            <a:chExt cx="3898111" cy="1704425"/>
          </a:xfrm>
        </p:grpSpPr>
        <p:sp>
          <p:nvSpPr>
            <p:cNvPr id="16" name="矩形 15"/>
            <p:cNvSpPr/>
            <p:nvPr/>
          </p:nvSpPr>
          <p:spPr>
            <a:xfrm>
              <a:off x="1713834" y="1499661"/>
              <a:ext cx="3898111" cy="170442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713834" y="1499661"/>
              <a:ext cx="1007038" cy="1704425"/>
            </a:xfrm>
            <a:prstGeom prst="rect">
              <a:avLst/>
            </a:prstGeom>
            <a:solidFill>
              <a:schemeClr val="accent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0" name="矩形 19"/>
          <p:cNvSpPr/>
          <p:nvPr/>
        </p:nvSpPr>
        <p:spPr>
          <a:xfrm>
            <a:off x="2975658" y="1661027"/>
            <a:ext cx="2381500" cy="412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负责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373273" y="2956959"/>
            <a:ext cx="445028" cy="44502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745909" y="1690153"/>
            <a:ext cx="942886" cy="132343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zh-CN" sz="8000" b="1" dirty="0">
                <a:solidFill>
                  <a:schemeClr val="bg1"/>
                </a:solidFill>
              </a:rPr>
              <a:t>A</a:t>
            </a:r>
            <a:endParaRPr kumimoji="1" lang="zh-CN" altLang="en-US" sz="8000" b="1" dirty="0">
              <a:solidFill>
                <a:schemeClr val="bg1"/>
              </a:solidFill>
            </a:endParaRPr>
          </a:p>
        </p:txBody>
      </p:sp>
      <p:grpSp>
        <p:nvGrpSpPr>
          <p:cNvPr id="60" name="组 59"/>
          <p:cNvGrpSpPr/>
          <p:nvPr/>
        </p:nvGrpSpPr>
        <p:grpSpPr>
          <a:xfrm>
            <a:off x="6195587" y="1499661"/>
            <a:ext cx="3898111" cy="1704425"/>
            <a:chOff x="6195587" y="1499661"/>
            <a:chExt cx="3898111" cy="1704425"/>
          </a:xfrm>
        </p:grpSpPr>
        <p:sp>
          <p:nvSpPr>
            <p:cNvPr id="31" name="矩形 30"/>
            <p:cNvSpPr/>
            <p:nvPr/>
          </p:nvSpPr>
          <p:spPr>
            <a:xfrm flipH="1">
              <a:off x="6195587" y="1499661"/>
              <a:ext cx="3898111" cy="170442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 flipH="1">
              <a:off x="9086660" y="1499661"/>
              <a:ext cx="1007038" cy="1704425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0" name="矩形 29"/>
          <p:cNvSpPr/>
          <p:nvPr/>
        </p:nvSpPr>
        <p:spPr>
          <a:xfrm flipH="1">
            <a:off x="6450374" y="1661027"/>
            <a:ext cx="2381500" cy="412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承担责任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5951977" y="2945364"/>
            <a:ext cx="445026" cy="4450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/>
          <p:cNvSpPr txBox="1"/>
          <p:nvPr/>
        </p:nvSpPr>
        <p:spPr>
          <a:xfrm flipH="1">
            <a:off x="9200490" y="1690153"/>
            <a:ext cx="779380" cy="132343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zh-CN" sz="8000" b="1" dirty="0">
                <a:solidFill>
                  <a:schemeClr val="bg1"/>
                </a:solidFill>
              </a:rPr>
              <a:t>B</a:t>
            </a:r>
            <a:endParaRPr kumimoji="1" lang="zh-CN" altLang="en-US" sz="8000" b="1" dirty="0">
              <a:solidFill>
                <a:schemeClr val="bg1"/>
              </a:solidFill>
            </a:endParaRPr>
          </a:p>
        </p:txBody>
      </p:sp>
      <p:grpSp>
        <p:nvGrpSpPr>
          <p:cNvPr id="49" name="组 48"/>
          <p:cNvGrpSpPr/>
          <p:nvPr/>
        </p:nvGrpSpPr>
        <p:grpSpPr>
          <a:xfrm flipV="1">
            <a:off x="1713834" y="3712975"/>
            <a:ext cx="3898111" cy="1704425"/>
            <a:chOff x="815671" y="1618373"/>
            <a:chExt cx="4154756" cy="1743090"/>
          </a:xfrm>
        </p:grpSpPr>
        <p:sp>
          <p:nvSpPr>
            <p:cNvPr id="52" name="矩形 51"/>
            <p:cNvSpPr/>
            <p:nvPr/>
          </p:nvSpPr>
          <p:spPr>
            <a:xfrm>
              <a:off x="815671" y="1618373"/>
              <a:ext cx="4154756" cy="174309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3" name="矩形 52"/>
            <p:cNvSpPr/>
            <p:nvPr/>
          </p:nvSpPr>
          <p:spPr>
            <a:xfrm>
              <a:off x="815671" y="1618373"/>
              <a:ext cx="1073340" cy="1743090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1" name="矩形 50"/>
          <p:cNvSpPr/>
          <p:nvPr/>
        </p:nvSpPr>
        <p:spPr>
          <a:xfrm>
            <a:off x="2975658" y="4803602"/>
            <a:ext cx="2381500" cy="412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有想法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</p:txBody>
      </p:sp>
      <p:sp>
        <p:nvSpPr>
          <p:cNvPr id="47" name="椭圆 46"/>
          <p:cNvSpPr/>
          <p:nvPr/>
        </p:nvSpPr>
        <p:spPr>
          <a:xfrm flipV="1">
            <a:off x="5383777" y="3490462"/>
            <a:ext cx="445028" cy="44502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1725070" y="3903469"/>
            <a:ext cx="984565" cy="132343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zh-CN" sz="8000" b="1" dirty="0">
                <a:solidFill>
                  <a:schemeClr val="bg1"/>
                </a:solidFill>
              </a:rPr>
              <a:t>C</a:t>
            </a:r>
            <a:endParaRPr kumimoji="1" lang="zh-CN" altLang="en-US" sz="8000" b="1" dirty="0">
              <a:solidFill>
                <a:schemeClr val="bg1"/>
              </a:solidFill>
            </a:endParaRPr>
          </a:p>
        </p:txBody>
      </p:sp>
      <p:grpSp>
        <p:nvGrpSpPr>
          <p:cNvPr id="41" name="组 40"/>
          <p:cNvGrpSpPr/>
          <p:nvPr/>
        </p:nvGrpSpPr>
        <p:grpSpPr>
          <a:xfrm flipH="1" flipV="1">
            <a:off x="6195587" y="3712975"/>
            <a:ext cx="3898111" cy="1704425"/>
            <a:chOff x="815671" y="1618373"/>
            <a:chExt cx="4154756" cy="1743090"/>
          </a:xfrm>
        </p:grpSpPr>
        <p:sp>
          <p:nvSpPr>
            <p:cNvPr id="44" name="矩形 43"/>
            <p:cNvSpPr/>
            <p:nvPr/>
          </p:nvSpPr>
          <p:spPr>
            <a:xfrm>
              <a:off x="815671" y="1618373"/>
              <a:ext cx="4154756" cy="174309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815671" y="1618373"/>
              <a:ext cx="1073340" cy="1743090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 flipH="1">
            <a:off x="6450374" y="4803602"/>
            <a:ext cx="2381500" cy="412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重结果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</p:txBody>
      </p:sp>
      <p:sp>
        <p:nvSpPr>
          <p:cNvPr id="39" name="椭圆 38"/>
          <p:cNvSpPr/>
          <p:nvPr/>
        </p:nvSpPr>
        <p:spPr>
          <a:xfrm flipH="1" flipV="1">
            <a:off x="5951977" y="3466024"/>
            <a:ext cx="445026" cy="4450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 flipH="1">
            <a:off x="9138775" y="3903469"/>
            <a:ext cx="902811" cy="132343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zh-CN" sz="8000" b="1" dirty="0">
                <a:solidFill>
                  <a:schemeClr val="bg1"/>
                </a:solidFill>
              </a:rPr>
              <a:t>D</a:t>
            </a:r>
            <a:endParaRPr kumimoji="1" lang="zh-CN" altLang="en-US" sz="8000" b="1" dirty="0">
              <a:solidFill>
                <a:schemeClr val="bg1"/>
              </a:solidFill>
            </a:endParaRPr>
          </a:p>
        </p:txBody>
      </p:sp>
      <p:sp>
        <p:nvSpPr>
          <p:cNvPr id="56" name="右箭头 55"/>
          <p:cNvSpPr/>
          <p:nvPr/>
        </p:nvSpPr>
        <p:spPr>
          <a:xfrm>
            <a:off x="5754006" y="3038312"/>
            <a:ext cx="428685" cy="268077"/>
          </a:xfrm>
          <a:prstGeom prst="rightArrow">
            <a:avLst>
              <a:gd name="adj1" fmla="val 2445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右箭头 56"/>
          <p:cNvSpPr/>
          <p:nvPr/>
        </p:nvSpPr>
        <p:spPr>
          <a:xfrm rot="5400000">
            <a:off x="5971711" y="3394537"/>
            <a:ext cx="428685" cy="268077"/>
          </a:xfrm>
          <a:prstGeom prst="rightArrow">
            <a:avLst>
              <a:gd name="adj1" fmla="val 2445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右箭头 57"/>
          <p:cNvSpPr/>
          <p:nvPr/>
        </p:nvSpPr>
        <p:spPr>
          <a:xfrm rot="10800000">
            <a:off x="5600929" y="3578936"/>
            <a:ext cx="428685" cy="268077"/>
          </a:xfrm>
          <a:prstGeom prst="rightArrow">
            <a:avLst>
              <a:gd name="adj1" fmla="val 2445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4" name="图片 3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42053"/>
            <a:ext cx="1828800" cy="243840"/>
          </a:xfrm>
          <a:prstGeom prst="rect">
            <a:avLst/>
          </a:prstGeom>
        </p:spPr>
      </p:pic>
      <p:sp>
        <p:nvSpPr>
          <p:cNvPr id="36" name="右箭头 35">
            <a:extLst>
              <a:ext uri="{FF2B5EF4-FFF2-40B4-BE49-F238E27FC236}">
                <a16:creationId xmlns:a16="http://schemas.microsoft.com/office/drawing/2014/main" id="{B5210CFB-3EFD-004F-A0C5-6C0C3052AD0B}"/>
              </a:ext>
            </a:extLst>
          </p:cNvPr>
          <p:cNvSpPr/>
          <p:nvPr/>
        </p:nvSpPr>
        <p:spPr>
          <a:xfrm rot="16200000">
            <a:off x="5417101" y="3215209"/>
            <a:ext cx="348241" cy="238951"/>
          </a:xfrm>
          <a:prstGeom prst="rightArrow">
            <a:avLst>
              <a:gd name="adj1" fmla="val 2445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1EC646D-6240-3249-ABD3-05ACC63432D2}"/>
              </a:ext>
            </a:extLst>
          </p:cNvPr>
          <p:cNvSpPr/>
          <p:nvPr/>
        </p:nvSpPr>
        <p:spPr>
          <a:xfrm rot="17290033">
            <a:off x="3607485" y="2077869"/>
            <a:ext cx="1227401" cy="122740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BFE7E9E-8A16-FD49-B5D3-007CD0330630}"/>
              </a:ext>
            </a:extLst>
          </p:cNvPr>
          <p:cNvSpPr/>
          <p:nvPr/>
        </p:nvSpPr>
        <p:spPr>
          <a:xfrm rot="20614086">
            <a:off x="7308821" y="3626443"/>
            <a:ext cx="1325599" cy="132559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0C5882A-F6D6-4C4C-AF12-E8774FBAC4E9}"/>
              </a:ext>
            </a:extLst>
          </p:cNvPr>
          <p:cNvSpPr/>
          <p:nvPr/>
        </p:nvSpPr>
        <p:spPr>
          <a:xfrm rot="19661959">
            <a:off x="3944153" y="4205861"/>
            <a:ext cx="1265592" cy="126559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276822C-91B8-5D4D-9EF4-06AE561EC8A4}"/>
              </a:ext>
            </a:extLst>
          </p:cNvPr>
          <p:cNvSpPr/>
          <p:nvPr/>
        </p:nvSpPr>
        <p:spPr>
          <a:xfrm rot="19896190">
            <a:off x="7238139" y="2184035"/>
            <a:ext cx="1034244" cy="103424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19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22847" y="1729469"/>
            <a:ext cx="1901483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3900" b="1" dirty="0">
                <a:solidFill>
                  <a:schemeClr val="bg1"/>
                </a:solidFill>
              </a:rPr>
              <a:t>4</a:t>
            </a:r>
            <a:endParaRPr kumimoji="1" lang="zh-CN" altLang="en-US" sz="239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56459" y="1864936"/>
            <a:ext cx="1034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800">
                <a:solidFill>
                  <a:schemeClr val="bg1"/>
                </a:solidFill>
              </a:rPr>
              <a:t>PART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42648" y="2922413"/>
            <a:ext cx="441659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6600" b="1">
                <a:solidFill>
                  <a:schemeClr val="accent4">
                    <a:alpha val="50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未来</a:t>
            </a:r>
            <a:endParaRPr kumimoji="1" lang="en-US" altLang="zh-CN" sz="6600" b="1">
              <a:solidFill>
                <a:schemeClr val="accent4">
                  <a:alpha val="50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kumimoji="1" lang="zh-CN" altLang="en-US" sz="6600" b="1">
                <a:solidFill>
                  <a:schemeClr val="accent4">
                    <a:alpha val="50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规划与展望</a:t>
            </a:r>
            <a:endParaRPr kumimoji="1" lang="zh-CN" altLang="en-US" sz="6600" b="1" dirty="0">
              <a:solidFill>
                <a:schemeClr val="accent4">
                  <a:alpha val="50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4934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/>
              <a:t>职业规划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328056" y="3861473"/>
            <a:ext cx="2816448" cy="2234527"/>
          </a:xfrm>
          <a:prstGeom prst="rect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2" t="5949" r="22005" b="19558"/>
          <a:stretch/>
        </p:blipFill>
        <p:spPr>
          <a:xfrm rot="16200000" flipH="1">
            <a:off x="1328057" y="1045028"/>
            <a:ext cx="2816445" cy="28164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矩形 8"/>
          <p:cNvSpPr/>
          <p:nvPr/>
        </p:nvSpPr>
        <p:spPr>
          <a:xfrm>
            <a:off x="1557128" y="4770504"/>
            <a:ext cx="2358302" cy="416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ea typeface="微软雅黑" charset="0"/>
              </a:rPr>
              <a:t>成为一名合格的</a:t>
            </a:r>
            <a:r>
              <a:rPr lang="en-US" altLang="zh-CN" b="1">
                <a:solidFill>
                  <a:schemeClr val="bg1"/>
                </a:solidFill>
                <a:ea typeface="微软雅黑" charset="0"/>
              </a:rPr>
              <a:t>SRE</a:t>
            </a:r>
            <a:endParaRPr lang="en-US" altLang="zh-CN" b="1" dirty="0">
              <a:solidFill>
                <a:schemeClr val="bg1"/>
              </a:solidFill>
              <a:ea typeface="微软雅黑" charset="0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4673598" y="1045027"/>
            <a:ext cx="2816448" cy="2234527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2" t="5949" r="22005" b="19558"/>
          <a:stretch/>
        </p:blipFill>
        <p:spPr>
          <a:xfrm rot="5400000" flipH="1" flipV="1">
            <a:off x="4673599" y="3279554"/>
            <a:ext cx="2816445" cy="28164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矩形 14"/>
          <p:cNvSpPr/>
          <p:nvPr/>
        </p:nvSpPr>
        <p:spPr>
          <a:xfrm>
            <a:off x="5131745" y="1897527"/>
            <a:ext cx="2358302" cy="416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ea typeface="微软雅黑" charset="0"/>
              </a:rPr>
              <a:t>成为高效能员工</a:t>
            </a:r>
            <a:endParaRPr lang="en-US" altLang="zh-CN" b="1" dirty="0">
              <a:solidFill>
                <a:schemeClr val="bg1"/>
              </a:solidFill>
              <a:ea typeface="微软雅黑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019141" y="3861472"/>
            <a:ext cx="2816448" cy="2234527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2" t="5949" r="22005" b="19558"/>
          <a:stretch/>
        </p:blipFill>
        <p:spPr>
          <a:xfrm rot="16200000" flipH="1">
            <a:off x="8019142" y="1045027"/>
            <a:ext cx="2816445" cy="28164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矩形 19"/>
          <p:cNvSpPr/>
          <p:nvPr/>
        </p:nvSpPr>
        <p:spPr>
          <a:xfrm>
            <a:off x="8477288" y="4770504"/>
            <a:ext cx="2358302" cy="416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ea typeface="微软雅黑" charset="0"/>
              </a:rPr>
              <a:t>对公司做出贡献</a:t>
            </a:r>
            <a:endParaRPr lang="en-US" altLang="zh-CN" b="1" dirty="0">
              <a:solidFill>
                <a:schemeClr val="bg1"/>
              </a:solidFill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956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/>
              <a:t>下一步工作计划</a:t>
            </a:r>
            <a:endParaRPr kumimoji="1" lang="zh-CN" altLang="en-US" dirty="0"/>
          </a:p>
        </p:txBody>
      </p:sp>
      <p:sp>
        <p:nvSpPr>
          <p:cNvPr id="10" name="形状 9"/>
          <p:cNvSpPr/>
          <p:nvPr/>
        </p:nvSpPr>
        <p:spPr>
          <a:xfrm>
            <a:off x="2333128" y="2921144"/>
            <a:ext cx="2141983" cy="2141983"/>
          </a:xfrm>
          <a:prstGeom prst="leftCircularArrow">
            <a:avLst>
              <a:gd name="adj1" fmla="val 2550"/>
              <a:gd name="adj2" fmla="val 309429"/>
              <a:gd name="adj3" fmla="val 2084940"/>
              <a:gd name="adj4" fmla="val 9057328"/>
              <a:gd name="adj5" fmla="val 2975"/>
            </a:avLst>
          </a:prstGeom>
          <a:solidFill>
            <a:schemeClr val="accent1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任意形状 10"/>
          <p:cNvSpPr/>
          <p:nvPr/>
        </p:nvSpPr>
        <p:spPr>
          <a:xfrm>
            <a:off x="1608521" y="3763452"/>
            <a:ext cx="1831520" cy="728335"/>
          </a:xfrm>
          <a:custGeom>
            <a:avLst/>
            <a:gdLst>
              <a:gd name="connsiteX0" fmla="*/ 0 w 1497810"/>
              <a:gd name="connsiteY0" fmla="*/ 59563 h 595630"/>
              <a:gd name="connsiteX1" fmla="*/ 59563 w 1497810"/>
              <a:gd name="connsiteY1" fmla="*/ 0 h 595630"/>
              <a:gd name="connsiteX2" fmla="*/ 1438247 w 1497810"/>
              <a:gd name="connsiteY2" fmla="*/ 0 h 595630"/>
              <a:gd name="connsiteX3" fmla="*/ 1497810 w 1497810"/>
              <a:gd name="connsiteY3" fmla="*/ 59563 h 595630"/>
              <a:gd name="connsiteX4" fmla="*/ 1497810 w 1497810"/>
              <a:gd name="connsiteY4" fmla="*/ 536067 h 595630"/>
              <a:gd name="connsiteX5" fmla="*/ 1438247 w 1497810"/>
              <a:gd name="connsiteY5" fmla="*/ 595630 h 595630"/>
              <a:gd name="connsiteX6" fmla="*/ 59563 w 1497810"/>
              <a:gd name="connsiteY6" fmla="*/ 595630 h 595630"/>
              <a:gd name="connsiteX7" fmla="*/ 0 w 1497810"/>
              <a:gd name="connsiteY7" fmla="*/ 536067 h 595630"/>
              <a:gd name="connsiteX8" fmla="*/ 0 w 1497810"/>
              <a:gd name="connsiteY8" fmla="*/ 59563 h 595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97810" h="595630">
                <a:moveTo>
                  <a:pt x="0" y="59563"/>
                </a:moveTo>
                <a:cubicBezTo>
                  <a:pt x="0" y="26667"/>
                  <a:pt x="26667" y="0"/>
                  <a:pt x="59563" y="0"/>
                </a:cubicBezTo>
                <a:lnTo>
                  <a:pt x="1438247" y="0"/>
                </a:lnTo>
                <a:cubicBezTo>
                  <a:pt x="1471143" y="0"/>
                  <a:pt x="1497810" y="26667"/>
                  <a:pt x="1497810" y="59563"/>
                </a:cubicBezTo>
                <a:lnTo>
                  <a:pt x="1497810" y="536067"/>
                </a:lnTo>
                <a:cubicBezTo>
                  <a:pt x="1497810" y="568963"/>
                  <a:pt x="1471143" y="595630"/>
                  <a:pt x="1438247" y="595630"/>
                </a:cubicBezTo>
                <a:lnTo>
                  <a:pt x="59563" y="595630"/>
                </a:lnTo>
                <a:cubicBezTo>
                  <a:pt x="26667" y="595630"/>
                  <a:pt x="0" y="568963"/>
                  <a:pt x="0" y="536067"/>
                </a:cubicBezTo>
                <a:lnTo>
                  <a:pt x="0" y="59563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310" tIns="59355" rIns="80310" bIns="59355" numCol="1" spcCol="1270" anchor="ctr" anchorCtr="0">
            <a:noAutofit/>
          </a:bodyPr>
          <a:lstStyle/>
          <a:p>
            <a:pPr lvl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300" kern="1200"/>
          </a:p>
        </p:txBody>
      </p:sp>
      <p:sp>
        <p:nvSpPr>
          <p:cNvPr id="16" name="环形箭头 15"/>
          <p:cNvSpPr/>
          <p:nvPr/>
        </p:nvSpPr>
        <p:spPr>
          <a:xfrm>
            <a:off x="4865479" y="1426029"/>
            <a:ext cx="2405264" cy="2405264"/>
          </a:xfrm>
          <a:prstGeom prst="circularArrow">
            <a:avLst>
              <a:gd name="adj1" fmla="val 2271"/>
              <a:gd name="adj2" fmla="val 273786"/>
              <a:gd name="adj3" fmla="val 19550703"/>
              <a:gd name="adj4" fmla="val 12575511"/>
              <a:gd name="adj5" fmla="val 2650"/>
            </a:avLst>
          </a:prstGeom>
          <a:solidFill>
            <a:schemeClr val="accent5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7" name="任意形状 16"/>
          <p:cNvSpPr/>
          <p:nvPr/>
        </p:nvSpPr>
        <p:spPr>
          <a:xfrm>
            <a:off x="4158043" y="2064002"/>
            <a:ext cx="1831520" cy="728335"/>
          </a:xfrm>
          <a:custGeom>
            <a:avLst/>
            <a:gdLst>
              <a:gd name="connsiteX0" fmla="*/ 0 w 1497810"/>
              <a:gd name="connsiteY0" fmla="*/ 59563 h 595630"/>
              <a:gd name="connsiteX1" fmla="*/ 59563 w 1497810"/>
              <a:gd name="connsiteY1" fmla="*/ 0 h 595630"/>
              <a:gd name="connsiteX2" fmla="*/ 1438247 w 1497810"/>
              <a:gd name="connsiteY2" fmla="*/ 0 h 595630"/>
              <a:gd name="connsiteX3" fmla="*/ 1497810 w 1497810"/>
              <a:gd name="connsiteY3" fmla="*/ 59563 h 595630"/>
              <a:gd name="connsiteX4" fmla="*/ 1497810 w 1497810"/>
              <a:gd name="connsiteY4" fmla="*/ 536067 h 595630"/>
              <a:gd name="connsiteX5" fmla="*/ 1438247 w 1497810"/>
              <a:gd name="connsiteY5" fmla="*/ 595630 h 595630"/>
              <a:gd name="connsiteX6" fmla="*/ 59563 w 1497810"/>
              <a:gd name="connsiteY6" fmla="*/ 595630 h 595630"/>
              <a:gd name="connsiteX7" fmla="*/ 0 w 1497810"/>
              <a:gd name="connsiteY7" fmla="*/ 536067 h 595630"/>
              <a:gd name="connsiteX8" fmla="*/ 0 w 1497810"/>
              <a:gd name="connsiteY8" fmla="*/ 59563 h 595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97810" h="595630">
                <a:moveTo>
                  <a:pt x="0" y="59563"/>
                </a:moveTo>
                <a:cubicBezTo>
                  <a:pt x="0" y="26667"/>
                  <a:pt x="26667" y="0"/>
                  <a:pt x="59563" y="0"/>
                </a:cubicBezTo>
                <a:lnTo>
                  <a:pt x="1438247" y="0"/>
                </a:lnTo>
                <a:cubicBezTo>
                  <a:pt x="1471143" y="0"/>
                  <a:pt x="1497810" y="26667"/>
                  <a:pt x="1497810" y="59563"/>
                </a:cubicBezTo>
                <a:lnTo>
                  <a:pt x="1497810" y="536067"/>
                </a:lnTo>
                <a:cubicBezTo>
                  <a:pt x="1497810" y="568963"/>
                  <a:pt x="1471143" y="595630"/>
                  <a:pt x="1438247" y="595630"/>
                </a:cubicBezTo>
                <a:lnTo>
                  <a:pt x="59563" y="595630"/>
                </a:lnTo>
                <a:cubicBezTo>
                  <a:pt x="26667" y="595630"/>
                  <a:pt x="0" y="568963"/>
                  <a:pt x="0" y="536067"/>
                </a:cubicBezTo>
                <a:lnTo>
                  <a:pt x="0" y="59563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310" tIns="59355" rIns="80310" bIns="59355" numCol="1" spcCol="1270" anchor="ctr" anchorCtr="0">
            <a:noAutofit/>
          </a:bodyPr>
          <a:lstStyle/>
          <a:p>
            <a:pPr lvl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300" kern="1200"/>
          </a:p>
        </p:txBody>
      </p:sp>
      <p:sp>
        <p:nvSpPr>
          <p:cNvPr id="25" name="形状 24"/>
          <p:cNvSpPr/>
          <p:nvPr/>
        </p:nvSpPr>
        <p:spPr>
          <a:xfrm>
            <a:off x="7432171" y="2921144"/>
            <a:ext cx="2141983" cy="2141983"/>
          </a:xfrm>
          <a:prstGeom prst="leftCircularArrow">
            <a:avLst>
              <a:gd name="adj1" fmla="val 2550"/>
              <a:gd name="adj2" fmla="val 309429"/>
              <a:gd name="adj3" fmla="val 2084940"/>
              <a:gd name="adj4" fmla="val 9024489"/>
              <a:gd name="adj5" fmla="val 2975"/>
            </a:avLst>
          </a:prstGeom>
          <a:solidFill>
            <a:schemeClr val="accent3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9" name="任意形状 28"/>
          <p:cNvSpPr/>
          <p:nvPr/>
        </p:nvSpPr>
        <p:spPr>
          <a:xfrm>
            <a:off x="6707564" y="3763452"/>
            <a:ext cx="1831520" cy="728335"/>
          </a:xfrm>
          <a:custGeom>
            <a:avLst/>
            <a:gdLst>
              <a:gd name="connsiteX0" fmla="*/ 0 w 1497810"/>
              <a:gd name="connsiteY0" fmla="*/ 59563 h 595630"/>
              <a:gd name="connsiteX1" fmla="*/ 59563 w 1497810"/>
              <a:gd name="connsiteY1" fmla="*/ 0 h 595630"/>
              <a:gd name="connsiteX2" fmla="*/ 1438247 w 1497810"/>
              <a:gd name="connsiteY2" fmla="*/ 0 h 595630"/>
              <a:gd name="connsiteX3" fmla="*/ 1497810 w 1497810"/>
              <a:gd name="connsiteY3" fmla="*/ 59563 h 595630"/>
              <a:gd name="connsiteX4" fmla="*/ 1497810 w 1497810"/>
              <a:gd name="connsiteY4" fmla="*/ 536067 h 595630"/>
              <a:gd name="connsiteX5" fmla="*/ 1438247 w 1497810"/>
              <a:gd name="connsiteY5" fmla="*/ 595630 h 595630"/>
              <a:gd name="connsiteX6" fmla="*/ 59563 w 1497810"/>
              <a:gd name="connsiteY6" fmla="*/ 595630 h 595630"/>
              <a:gd name="connsiteX7" fmla="*/ 0 w 1497810"/>
              <a:gd name="connsiteY7" fmla="*/ 536067 h 595630"/>
              <a:gd name="connsiteX8" fmla="*/ 0 w 1497810"/>
              <a:gd name="connsiteY8" fmla="*/ 59563 h 595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97810" h="595630">
                <a:moveTo>
                  <a:pt x="0" y="59563"/>
                </a:moveTo>
                <a:cubicBezTo>
                  <a:pt x="0" y="26667"/>
                  <a:pt x="26667" y="0"/>
                  <a:pt x="59563" y="0"/>
                </a:cubicBezTo>
                <a:lnTo>
                  <a:pt x="1438247" y="0"/>
                </a:lnTo>
                <a:cubicBezTo>
                  <a:pt x="1471143" y="0"/>
                  <a:pt x="1497810" y="26667"/>
                  <a:pt x="1497810" y="59563"/>
                </a:cubicBezTo>
                <a:lnTo>
                  <a:pt x="1497810" y="536067"/>
                </a:lnTo>
                <a:cubicBezTo>
                  <a:pt x="1497810" y="568963"/>
                  <a:pt x="1471143" y="595630"/>
                  <a:pt x="1438247" y="595630"/>
                </a:cubicBezTo>
                <a:lnTo>
                  <a:pt x="59563" y="595630"/>
                </a:lnTo>
                <a:cubicBezTo>
                  <a:pt x="26667" y="595630"/>
                  <a:pt x="0" y="568963"/>
                  <a:pt x="0" y="536067"/>
                </a:cubicBezTo>
                <a:lnTo>
                  <a:pt x="0" y="59563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310" tIns="59355" rIns="80310" bIns="59355" numCol="1" spcCol="1270" anchor="ctr" anchorCtr="0">
            <a:noAutofit/>
          </a:bodyPr>
          <a:lstStyle/>
          <a:p>
            <a:pPr lvl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300" kern="1200"/>
          </a:p>
        </p:txBody>
      </p:sp>
      <p:sp>
        <p:nvSpPr>
          <p:cNvPr id="31" name="任意形状 30"/>
          <p:cNvSpPr/>
          <p:nvPr/>
        </p:nvSpPr>
        <p:spPr>
          <a:xfrm>
            <a:off x="9257084" y="2064002"/>
            <a:ext cx="1831520" cy="728335"/>
          </a:xfrm>
          <a:custGeom>
            <a:avLst/>
            <a:gdLst>
              <a:gd name="connsiteX0" fmla="*/ 0 w 1497810"/>
              <a:gd name="connsiteY0" fmla="*/ 59563 h 595630"/>
              <a:gd name="connsiteX1" fmla="*/ 59563 w 1497810"/>
              <a:gd name="connsiteY1" fmla="*/ 0 h 595630"/>
              <a:gd name="connsiteX2" fmla="*/ 1438247 w 1497810"/>
              <a:gd name="connsiteY2" fmla="*/ 0 h 595630"/>
              <a:gd name="connsiteX3" fmla="*/ 1497810 w 1497810"/>
              <a:gd name="connsiteY3" fmla="*/ 59563 h 595630"/>
              <a:gd name="connsiteX4" fmla="*/ 1497810 w 1497810"/>
              <a:gd name="connsiteY4" fmla="*/ 536067 h 595630"/>
              <a:gd name="connsiteX5" fmla="*/ 1438247 w 1497810"/>
              <a:gd name="connsiteY5" fmla="*/ 595630 h 595630"/>
              <a:gd name="connsiteX6" fmla="*/ 59563 w 1497810"/>
              <a:gd name="connsiteY6" fmla="*/ 595630 h 595630"/>
              <a:gd name="connsiteX7" fmla="*/ 0 w 1497810"/>
              <a:gd name="connsiteY7" fmla="*/ 536067 h 595630"/>
              <a:gd name="connsiteX8" fmla="*/ 0 w 1497810"/>
              <a:gd name="connsiteY8" fmla="*/ 59563 h 595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97810" h="595630">
                <a:moveTo>
                  <a:pt x="0" y="59563"/>
                </a:moveTo>
                <a:cubicBezTo>
                  <a:pt x="0" y="26667"/>
                  <a:pt x="26667" y="0"/>
                  <a:pt x="59563" y="0"/>
                </a:cubicBezTo>
                <a:lnTo>
                  <a:pt x="1438247" y="0"/>
                </a:lnTo>
                <a:cubicBezTo>
                  <a:pt x="1471143" y="0"/>
                  <a:pt x="1497810" y="26667"/>
                  <a:pt x="1497810" y="59563"/>
                </a:cubicBezTo>
                <a:lnTo>
                  <a:pt x="1497810" y="536067"/>
                </a:lnTo>
                <a:cubicBezTo>
                  <a:pt x="1497810" y="568963"/>
                  <a:pt x="1471143" y="595630"/>
                  <a:pt x="1438247" y="595630"/>
                </a:cubicBezTo>
                <a:lnTo>
                  <a:pt x="59563" y="595630"/>
                </a:lnTo>
                <a:cubicBezTo>
                  <a:pt x="26667" y="595630"/>
                  <a:pt x="0" y="568963"/>
                  <a:pt x="0" y="536067"/>
                </a:cubicBezTo>
                <a:lnTo>
                  <a:pt x="0" y="59563"/>
                </a:lnTo>
                <a:close/>
              </a:path>
            </a:pathLst>
          </a:custGeom>
          <a:solidFill>
            <a:schemeClr val="accent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310" tIns="59355" rIns="80310" bIns="59355" numCol="1" spcCol="1270" anchor="ctr" anchorCtr="0">
            <a:noAutofit/>
          </a:bodyPr>
          <a:lstStyle/>
          <a:p>
            <a:pPr lvl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300" kern="1200"/>
          </a:p>
        </p:txBody>
      </p:sp>
      <p:sp>
        <p:nvSpPr>
          <p:cNvPr id="33" name="矩形 32"/>
          <p:cNvSpPr/>
          <p:nvPr/>
        </p:nvSpPr>
        <p:spPr>
          <a:xfrm>
            <a:off x="1617915" y="3952166"/>
            <a:ext cx="1719944" cy="341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400" b="1">
                <a:solidFill>
                  <a:schemeClr val="bg1"/>
                </a:solidFill>
                <a:ea typeface="微软雅黑" charset="0"/>
              </a:rPr>
              <a:t>完成本职工作</a:t>
            </a:r>
            <a:endParaRPr lang="en-US" altLang="zh-CN" sz="1400" b="1" dirty="0">
              <a:solidFill>
                <a:schemeClr val="bg1"/>
              </a:solidFill>
              <a:ea typeface="微软雅黑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766196" y="3952166"/>
            <a:ext cx="1719944" cy="344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400" b="1">
                <a:solidFill>
                  <a:schemeClr val="bg1"/>
                </a:solidFill>
                <a:ea typeface="微软雅黑" charset="0"/>
              </a:rPr>
              <a:t>为客户创造价值</a:t>
            </a:r>
            <a:endParaRPr lang="en-US" altLang="zh-CN" sz="1400" b="1" dirty="0">
              <a:solidFill>
                <a:schemeClr val="bg1"/>
              </a:solidFill>
              <a:ea typeface="微软雅黑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213831" y="2214521"/>
            <a:ext cx="1719944" cy="344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400" b="1">
                <a:solidFill>
                  <a:schemeClr val="bg1"/>
                </a:solidFill>
                <a:ea typeface="微软雅黑" charset="0"/>
              </a:rPr>
              <a:t>成就他人</a:t>
            </a:r>
            <a:endParaRPr lang="en-US" altLang="zh-CN" sz="1400" b="1" dirty="0">
              <a:solidFill>
                <a:schemeClr val="bg1"/>
              </a:solidFill>
              <a:ea typeface="微软雅黑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21615" y="2214521"/>
            <a:ext cx="1719944" cy="341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400" b="1">
                <a:solidFill>
                  <a:schemeClr val="bg1"/>
                </a:solidFill>
                <a:ea typeface="微软雅黑" charset="0"/>
              </a:rPr>
              <a:t>为公司带来利益</a:t>
            </a:r>
            <a:endParaRPr lang="en-US" altLang="zh-CN" sz="1400" b="1" dirty="0">
              <a:solidFill>
                <a:schemeClr val="bg1"/>
              </a:solidFill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64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40306" y="1294892"/>
            <a:ext cx="39113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400" b="1" dirty="0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THANK</a:t>
            </a:r>
            <a:r>
              <a:rPr kumimoji="1" lang="zh-CN" altLang="en-US" sz="4400" b="1" dirty="0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kumimoji="1" lang="en-US" altLang="zh-CN" sz="4400" b="1" dirty="0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YOU!</a:t>
            </a:r>
            <a:endParaRPr kumimoji="1" lang="zh-CN" altLang="en-US" sz="4400" b="1" dirty="0">
              <a:solidFill>
                <a:schemeClr val="accent1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10898" y="2227489"/>
            <a:ext cx="3570208" cy="1107996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6600" b="1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感谢聆听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03635" y="3437085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kumimoji="1" lang="zh-CN" altLang="en-US" sz="2800" b="1" dirty="0">
              <a:solidFill>
                <a:schemeClr val="accent2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" name="文本框 8"/>
          <p:cNvSpPr txBox="1"/>
          <p:nvPr/>
        </p:nvSpPr>
        <p:spPr>
          <a:xfrm>
            <a:off x="4448899" y="4178020"/>
            <a:ext cx="32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lnSpc>
                <a:spcPct val="150000"/>
              </a:lnSpc>
              <a:buFont typeface="Wingdings" charset="2"/>
              <a:buChar char="n"/>
            </a:pPr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0"/>
              </a:rPr>
              <a:t>部门主管：郭保庆</a:t>
            </a:r>
          </a:p>
          <a:p>
            <a:pPr marL="285750" indent="-285750" algn="ctr">
              <a:lnSpc>
                <a:spcPct val="150000"/>
              </a:lnSpc>
              <a:buFont typeface="Wingdings" charset="2"/>
              <a:buChar char="n"/>
            </a:pPr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0"/>
              </a:rPr>
              <a:t>思想导师：滕声威</a:t>
            </a:r>
          </a:p>
          <a:p>
            <a:pPr marL="285750" indent="-285750" algn="ctr">
              <a:lnSpc>
                <a:spcPct val="150000"/>
              </a:lnSpc>
              <a:buFont typeface="Wingdings" charset="2"/>
              <a:buChar char="n"/>
            </a:pPr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0"/>
              </a:rPr>
              <a:t>转正人员：殷小龙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34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自定义 86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FAA0AA"/>
      </a:accent1>
      <a:accent2>
        <a:srgbClr val="F5E5E4"/>
      </a:accent2>
      <a:accent3>
        <a:srgbClr val="AACED2"/>
      </a:accent3>
      <a:accent4>
        <a:srgbClr val="009FB8"/>
      </a:accent4>
      <a:accent5>
        <a:srgbClr val="FFBBB3"/>
      </a:accent5>
      <a:accent6>
        <a:srgbClr val="515151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1922</TotalTime>
  <Words>242</Words>
  <Application>Microsoft Macintosh PowerPoint</Application>
  <PresentationFormat>宽屏</PresentationFormat>
  <Paragraphs>98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宋体</vt:lpstr>
      <vt:lpstr>Microsoft YaHei</vt:lpstr>
      <vt:lpstr>Microsoft YaHei</vt:lpstr>
      <vt:lpstr>Segoe UI Light</vt:lpstr>
      <vt:lpstr>Arial</vt:lpstr>
      <vt:lpstr>Calibri</vt:lpstr>
      <vt:lpstr>Century Gothic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殷 小龙</cp:lastModifiedBy>
  <cp:revision>148</cp:revision>
  <dcterms:created xsi:type="dcterms:W3CDTF">2015-08-18T02:51:41Z</dcterms:created>
  <dcterms:modified xsi:type="dcterms:W3CDTF">2018-11-04T16:20:20Z</dcterms:modified>
  <cp:category/>
</cp:coreProperties>
</file>